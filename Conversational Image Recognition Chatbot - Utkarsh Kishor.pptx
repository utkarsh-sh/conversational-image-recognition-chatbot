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D0AB94-75E8-406A-976F-4E88777885A6}" v="316" dt="2025-09-12T19:53:31.5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5" y="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kumar" userId="cf0fe9a3e19d90de" providerId="LiveId" clId="{06EA9F5C-C7CB-43EE-8671-F1239B13FC48}"/>
    <pc:docChg chg="undo custSel modSld">
      <pc:chgData name="krishna kumar" userId="cf0fe9a3e19d90de" providerId="LiveId" clId="{06EA9F5C-C7CB-43EE-8671-F1239B13FC48}" dt="2025-09-12T19:56:29.174" v="318" actId="14100"/>
      <pc:docMkLst>
        <pc:docMk/>
      </pc:docMkLst>
      <pc:sldChg chg="addSp delSp modSp mod">
        <pc:chgData name="krishna kumar" userId="cf0fe9a3e19d90de" providerId="LiveId" clId="{06EA9F5C-C7CB-43EE-8671-F1239B13FC48}" dt="2025-09-12T19:53:31.533" v="309" actId="20577"/>
        <pc:sldMkLst>
          <pc:docMk/>
          <pc:sldMk cId="0" sldId="281"/>
        </pc:sldMkLst>
        <pc:spChg chg="add mod">
          <ac:chgData name="krishna kumar" userId="cf0fe9a3e19d90de" providerId="LiveId" clId="{06EA9F5C-C7CB-43EE-8671-F1239B13FC48}" dt="2025-09-12T06:21:09.204" v="96" actId="255"/>
          <ac:spMkLst>
            <pc:docMk/>
            <pc:sldMk cId="0" sldId="281"/>
            <ac:spMk id="5" creationId="{44552CBD-B60C-81F8-6C39-2B3ECCBC17E5}"/>
          </ac:spMkLst>
        </pc:spChg>
        <pc:spChg chg="mod">
          <ac:chgData name="krishna kumar" userId="cf0fe9a3e19d90de" providerId="LiveId" clId="{06EA9F5C-C7CB-43EE-8671-F1239B13FC48}" dt="2025-09-12T06:18:56.340" v="30" actId="14100"/>
          <ac:spMkLst>
            <pc:docMk/>
            <pc:sldMk cId="0" sldId="281"/>
            <ac:spMk id="7" creationId="{00000000-0000-0000-0000-000000000000}"/>
          </ac:spMkLst>
        </pc:spChg>
        <pc:spChg chg="mod">
          <ac:chgData name="krishna kumar" userId="cf0fe9a3e19d90de" providerId="LiveId" clId="{06EA9F5C-C7CB-43EE-8671-F1239B13FC48}" dt="2025-09-12T06:18:44.413" v="29" actId="14100"/>
          <ac:spMkLst>
            <pc:docMk/>
            <pc:sldMk cId="0" sldId="281"/>
            <ac:spMk id="9" creationId="{00000000-0000-0000-0000-000000000000}"/>
          </ac:spMkLst>
        </pc:spChg>
        <pc:spChg chg="mod">
          <ac:chgData name="krishna kumar" userId="cf0fe9a3e19d90de" providerId="LiveId" clId="{06EA9F5C-C7CB-43EE-8671-F1239B13FC48}" dt="2025-09-12T19:53:03.867" v="283" actId="20577"/>
          <ac:spMkLst>
            <pc:docMk/>
            <pc:sldMk cId="0" sldId="281"/>
            <ac:spMk id="15361" creationId="{00000000-0000-0000-0000-000000000000}"/>
          </ac:spMkLst>
        </pc:spChg>
        <pc:spChg chg="mod">
          <ac:chgData name="krishna kumar" userId="cf0fe9a3e19d90de" providerId="LiveId" clId="{06EA9F5C-C7CB-43EE-8671-F1239B13FC48}" dt="2025-09-12T19:53:31.533" v="309" actId="20577"/>
          <ac:spMkLst>
            <pc:docMk/>
            <pc:sldMk cId="0" sldId="281"/>
            <ac:spMk id="15362" creationId="{00000000-0000-0000-0000-000000000000}"/>
          </ac:spMkLst>
        </pc:spChg>
        <pc:picChg chg="add del mod">
          <ac:chgData name="krishna kumar" userId="cf0fe9a3e19d90de" providerId="LiveId" clId="{06EA9F5C-C7CB-43EE-8671-F1239B13FC48}" dt="2025-09-12T06:18:20.616" v="24" actId="478"/>
          <ac:picMkLst>
            <pc:docMk/>
            <pc:sldMk cId="0" sldId="281"/>
            <ac:picMk id="2" creationId="{66265522-3E61-3BE5-DD20-A9918331AF54}"/>
          </ac:picMkLst>
        </pc:picChg>
        <pc:picChg chg="add mod">
          <ac:chgData name="krishna kumar" userId="cf0fe9a3e19d90de" providerId="LiveId" clId="{06EA9F5C-C7CB-43EE-8671-F1239B13FC48}" dt="2025-09-12T19:53:01.748" v="278" actId="1076"/>
          <ac:picMkLst>
            <pc:docMk/>
            <pc:sldMk cId="0" sldId="281"/>
            <ac:picMk id="4" creationId="{A103B949-C4A8-C88B-2E4D-1066BC7945D5}"/>
          </ac:picMkLst>
        </pc:picChg>
        <pc:picChg chg="mod">
          <ac:chgData name="krishna kumar" userId="cf0fe9a3e19d90de" providerId="LiveId" clId="{06EA9F5C-C7CB-43EE-8671-F1239B13FC48}" dt="2025-09-12T19:53:02.073" v="279" actId="1076"/>
          <ac:picMkLst>
            <pc:docMk/>
            <pc:sldMk cId="0" sldId="281"/>
            <ac:picMk id="11" creationId="{00000000-0000-0000-0000-000000000000}"/>
          </ac:picMkLst>
        </pc:picChg>
      </pc:sldChg>
      <pc:sldChg chg="addSp delSp modSp mod">
        <pc:chgData name="krishna kumar" userId="cf0fe9a3e19d90de" providerId="LiveId" clId="{06EA9F5C-C7CB-43EE-8671-F1239B13FC48}" dt="2025-09-12T19:56:29.174" v="318" actId="14100"/>
        <pc:sldMkLst>
          <pc:docMk/>
          <pc:sldMk cId="0" sldId="290"/>
        </pc:sldMkLst>
        <pc:spChg chg="mod">
          <ac:chgData name="krishna kumar" userId="cf0fe9a3e19d90de" providerId="LiveId" clId="{06EA9F5C-C7CB-43EE-8671-F1239B13FC48}" dt="2025-09-12T19:45:56.617" v="98" actId="20577"/>
          <ac:spMkLst>
            <pc:docMk/>
            <pc:sldMk cId="0" sldId="290"/>
            <ac:spMk id="17410" creationId="{00000000-0000-0000-0000-000000000000}"/>
          </ac:spMkLst>
        </pc:spChg>
        <pc:picChg chg="add mod">
          <ac:chgData name="krishna kumar" userId="cf0fe9a3e19d90de" providerId="LiveId" clId="{06EA9F5C-C7CB-43EE-8671-F1239B13FC48}" dt="2025-09-12T19:56:01.174" v="316" actId="14100"/>
          <ac:picMkLst>
            <pc:docMk/>
            <pc:sldMk cId="0" sldId="290"/>
            <ac:picMk id="3" creationId="{9A53E5DF-9D05-364A-F46A-CCBDF6F70B87}"/>
          </ac:picMkLst>
        </pc:picChg>
        <pc:picChg chg="del">
          <ac:chgData name="krishna kumar" userId="cf0fe9a3e19d90de" providerId="LiveId" clId="{06EA9F5C-C7CB-43EE-8671-F1239B13FC48}" dt="2025-09-12T06:17:07.304" v="20" actId="21"/>
          <ac:picMkLst>
            <pc:docMk/>
            <pc:sldMk cId="0" sldId="290"/>
            <ac:picMk id="9" creationId="{66265522-3E61-3BE5-DD20-A9918331AF54}"/>
          </ac:picMkLst>
        </pc:picChg>
        <pc:picChg chg="mod">
          <ac:chgData name="krishna kumar" userId="cf0fe9a3e19d90de" providerId="LiveId" clId="{06EA9F5C-C7CB-43EE-8671-F1239B13FC48}" dt="2025-09-12T19:56:29.174" v="318" actId="14100"/>
          <ac:picMkLst>
            <pc:docMk/>
            <pc:sldMk cId="0" sldId="290"/>
            <ac:picMk id="16" creationId="{1D5501FB-2337-8CF0-2945-A957BD20B2CC}"/>
          </ac:picMkLst>
        </pc:picChg>
      </pc:sldChg>
      <pc:sldChg chg="modSp mod">
        <pc:chgData name="krishna kumar" userId="cf0fe9a3e19d90de" providerId="LiveId" clId="{06EA9F5C-C7CB-43EE-8671-F1239B13FC48}" dt="2025-09-12T19:49:58.991" v="175" actId="20577"/>
        <pc:sldMkLst>
          <pc:docMk/>
          <pc:sldMk cId="3753387913" sldId="293"/>
        </pc:sldMkLst>
        <pc:spChg chg="mod">
          <ac:chgData name="krishna kumar" userId="cf0fe9a3e19d90de" providerId="LiveId" clId="{06EA9F5C-C7CB-43EE-8671-F1239B13FC48}" dt="2025-09-12T19:49:58.991" v="175" actId="20577"/>
          <ac:spMkLst>
            <pc:docMk/>
            <pc:sldMk cId="3753387913" sldId="293"/>
            <ac:spMk id="17410" creationId="{00000000-0000-0000-0000-000000000000}"/>
          </ac:spMkLst>
        </pc:spChg>
      </pc:sldChg>
      <pc:sldChg chg="modSp mod">
        <pc:chgData name="krishna kumar" userId="cf0fe9a3e19d90de" providerId="LiveId" clId="{06EA9F5C-C7CB-43EE-8671-F1239B13FC48}" dt="2025-09-12T19:50:35.952" v="207" actId="20577"/>
        <pc:sldMkLst>
          <pc:docMk/>
          <pc:sldMk cId="2997144140" sldId="294"/>
        </pc:sldMkLst>
        <pc:spChg chg="mod">
          <ac:chgData name="krishna kumar" userId="cf0fe9a3e19d90de" providerId="LiveId" clId="{06EA9F5C-C7CB-43EE-8671-F1239B13FC48}" dt="2025-09-12T19:50:35.952" v="207" actId="20577"/>
          <ac:spMkLst>
            <pc:docMk/>
            <pc:sldMk cId="2997144140" sldId="294"/>
            <ac:spMk id="17410" creationId="{00000000-0000-0000-0000-000000000000}"/>
          </ac:spMkLst>
        </pc:spChg>
      </pc:sldChg>
      <pc:sldChg chg="modSp mod">
        <pc:chgData name="krishna kumar" userId="cf0fe9a3e19d90de" providerId="LiveId" clId="{06EA9F5C-C7CB-43EE-8671-F1239B13FC48}" dt="2025-09-12T19:53:04.780" v="284" actId="20577"/>
        <pc:sldMkLst>
          <pc:docMk/>
          <pc:sldMk cId="3916788613" sldId="296"/>
        </pc:sldMkLst>
        <pc:spChg chg="mod">
          <ac:chgData name="krishna kumar" userId="cf0fe9a3e19d90de" providerId="LiveId" clId="{06EA9F5C-C7CB-43EE-8671-F1239B13FC48}" dt="2025-09-12T19:53:04.780" v="284" actId="20577"/>
          <ac:spMkLst>
            <pc:docMk/>
            <pc:sldMk cId="3916788613" sldId="296"/>
            <ac:spMk id="17410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" TargetMode="External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codataset.org/" TargetMode="External"/><Relationship Id="rId5" Type="http://schemas.openxmlformats.org/officeDocument/2006/relationships/hyperlink" Target="https://pytorch.org/" TargetMode="External"/><Relationship Id="rId4" Type="http://schemas.openxmlformats.org/officeDocument/2006/relationships/hyperlink" Target="https://www.gradio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225083"/>
            <a:ext cx="9656776" cy="1774776"/>
          </a:xfrm>
        </p:spPr>
        <p:txBody>
          <a:bodyPr/>
          <a:lstStyle/>
          <a:p>
            <a:b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INTERNAL SMART INDIA HACKATHON 2025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11540148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1604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/>
              <a:t>Conversational Image Recognition Chatbot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Smart -  Automation</a:t>
            </a:r>
            <a:endParaRPr lang="en-US" sz="24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Team Nova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672637" y="55524"/>
            <a:ext cx="2327105" cy="15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586428"/>
            <a:ext cx="12191999" cy="27157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" y="-197059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94538"/>
            <a:ext cx="12191999" cy="557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                                              </a:t>
            </a:r>
            <a:r>
              <a:rPr lang="en-IN" sz="2400" b="1" dirty="0"/>
              <a:t>Conversational Image Recognition Chatbot</a:t>
            </a:r>
            <a:endParaRPr lang="en-US" sz="2400" b="1" dirty="0"/>
          </a:p>
          <a:p>
            <a:pPr marL="457200" indent="-457200">
              <a:buAutoNum type="arabicPeriod"/>
            </a:pPr>
            <a:r>
              <a:rPr lang="en-US" sz="2000" b="1" dirty="0"/>
              <a:t>Interactive Web-based Platform:-</a:t>
            </a:r>
            <a:r>
              <a:rPr lang="en-US" sz="1600" dirty="0"/>
              <a:t>.</a:t>
            </a:r>
          </a:p>
          <a:p>
            <a:r>
              <a:rPr lang="en-US" sz="1600" b="1" dirty="0"/>
              <a:t>          </a:t>
            </a:r>
            <a:r>
              <a:rPr lang="en-US" sz="1600" dirty="0"/>
              <a:t>User-friendly web application where users can upload images.</a:t>
            </a:r>
          </a:p>
          <a:p>
            <a:r>
              <a:rPr lang="en-US" sz="1600" dirty="0"/>
              <a:t>          Users can ask questions in plain English about the uploaded image</a:t>
            </a:r>
          </a:p>
          <a:p>
            <a:r>
              <a:rPr lang="en-US" sz="1600" b="1" dirty="0"/>
              <a:t>2.      Real-time Question Answering</a:t>
            </a:r>
            <a:endParaRPr lang="en-US" sz="1600" dirty="0"/>
          </a:p>
          <a:p>
            <a:r>
              <a:rPr lang="en-US" sz="1600" dirty="0"/>
              <a:t>          The chatbot processes both the </a:t>
            </a:r>
            <a:r>
              <a:rPr lang="en-US" sz="1400" b="1" dirty="0"/>
              <a:t>image</a:t>
            </a:r>
            <a:r>
              <a:rPr lang="en-US" sz="1600" dirty="0"/>
              <a:t> and the </a:t>
            </a:r>
            <a:r>
              <a:rPr lang="en-US" sz="1400" b="1" dirty="0"/>
              <a:t>user query</a:t>
            </a:r>
            <a:r>
              <a:rPr lang="en-US" sz="1400" dirty="0"/>
              <a:t> </a:t>
            </a:r>
            <a:r>
              <a:rPr lang="en-US" sz="1600" dirty="0"/>
              <a:t>simultaneously.</a:t>
            </a:r>
          </a:p>
          <a:p>
            <a:r>
              <a:rPr lang="en-US" sz="1600" dirty="0"/>
              <a:t>          Provides instant responses that are accurate and grammatically correct.</a:t>
            </a:r>
          </a:p>
          <a:p>
            <a:r>
              <a:rPr lang="en-IN" sz="1600" b="1" dirty="0"/>
              <a:t>3.      Core Deep Learning Model</a:t>
            </a:r>
            <a:endParaRPr lang="en-IN" sz="1600" dirty="0"/>
          </a:p>
          <a:p>
            <a:r>
              <a:rPr lang="en-IN" sz="1600" dirty="0"/>
              <a:t>           Uses </a:t>
            </a:r>
            <a:r>
              <a:rPr lang="en-IN" sz="1400" b="1" dirty="0"/>
              <a:t>Visual Question Answering (VQA)</a:t>
            </a:r>
            <a:r>
              <a:rPr lang="en-IN" sz="1400" dirty="0"/>
              <a:t> </a:t>
            </a:r>
            <a:r>
              <a:rPr lang="en-IN" sz="1600" dirty="0"/>
              <a:t>architecture.</a:t>
            </a:r>
          </a:p>
          <a:p>
            <a:r>
              <a:rPr lang="en-IN" sz="1600" dirty="0"/>
              <a:t>           Integrates </a:t>
            </a:r>
            <a:r>
              <a:rPr lang="en-IN" sz="1400" b="1" dirty="0"/>
              <a:t>Computer Vision</a:t>
            </a:r>
            <a:r>
              <a:rPr lang="en-IN" sz="1400" dirty="0"/>
              <a:t> </a:t>
            </a:r>
            <a:r>
              <a:rPr lang="en-IN" sz="1600" dirty="0"/>
              <a:t>for object/scene recognition.</a:t>
            </a:r>
          </a:p>
          <a:p>
            <a:r>
              <a:rPr lang="en-IN" sz="1600" dirty="0"/>
              <a:t>            Combines with </a:t>
            </a:r>
            <a:r>
              <a:rPr lang="en-IN" sz="1400" b="1" dirty="0"/>
              <a:t>Natural Language Processing (NLP)</a:t>
            </a:r>
            <a:r>
              <a:rPr lang="en-IN" sz="1400" dirty="0"/>
              <a:t> </a:t>
            </a:r>
            <a:r>
              <a:rPr lang="en-IN" sz="1600" dirty="0"/>
              <a:t>for query understanding.</a:t>
            </a:r>
          </a:p>
          <a:p>
            <a:r>
              <a:rPr lang="en-US" sz="1600" b="1" dirty="0"/>
              <a:t>4.       Seamless User Experience</a:t>
            </a:r>
            <a:endParaRPr lang="en-US" sz="1600" dirty="0"/>
          </a:p>
          <a:p>
            <a:r>
              <a:rPr lang="en-US" sz="1600" dirty="0"/>
              <a:t>            Simple upload interface and Instant image understanding and conversational replies.</a:t>
            </a:r>
          </a:p>
          <a:p>
            <a:r>
              <a:rPr lang="en-US" sz="1600" dirty="0"/>
              <a:t>            Works across different domains (education, healthcare, defense, retail).</a:t>
            </a:r>
          </a:p>
          <a:p>
            <a:r>
              <a:rPr lang="en-US" b="1" dirty="0"/>
              <a:t>5.      Expected Outcomes</a:t>
            </a:r>
            <a:endParaRPr lang="en-US" dirty="0"/>
          </a:p>
          <a:p>
            <a:pPr lvl="1"/>
            <a:r>
              <a:rPr lang="en-US" dirty="0"/>
              <a:t> Intelligent chatbot that can "see" images and "talk" about them.</a:t>
            </a:r>
          </a:p>
          <a:p>
            <a:pPr lvl="1"/>
            <a:r>
              <a:rPr lang="en-US" dirty="0"/>
              <a:t> High accuracy in recognizing objects and answering related questions.</a:t>
            </a:r>
          </a:p>
          <a:p>
            <a:pPr lvl="1"/>
            <a:r>
              <a:rPr lang="en-US" dirty="0"/>
              <a:t> Improves automation and enhances human–computer interaction.</a:t>
            </a:r>
          </a:p>
          <a:p>
            <a:endParaRPr lang="en-US" sz="1600" dirty="0"/>
          </a:p>
          <a:p>
            <a:endParaRPr lang="en-US" sz="16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706599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49772" y="9270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Team Nova</a:t>
            </a:r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73545" y="-274815"/>
            <a:ext cx="2327105" cy="1453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03B949-C4A8-C88B-2E4D-1066BC7945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559" y="733097"/>
            <a:ext cx="3774440" cy="52972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552CBD-B60C-81F8-6C39-2B3ECCBC17E5}"/>
              </a:ext>
            </a:extLst>
          </p:cNvPr>
          <p:cNvSpPr txBox="1"/>
          <p:nvPr/>
        </p:nvSpPr>
        <p:spPr>
          <a:xfrm>
            <a:off x="9287174" y="6122419"/>
            <a:ext cx="20352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/>
              <a:t>Idea Flow chart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45643" y="2924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7878" y="1320730"/>
            <a:ext cx="12191998" cy="2369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Technologies Used:-</a:t>
            </a:r>
          </a:p>
          <a:p>
            <a:r>
              <a:rPr lang="en-IN" sz="2000" b="1" dirty="0"/>
              <a:t>       Language:</a:t>
            </a:r>
            <a:r>
              <a:rPr lang="en-IN" sz="2000" dirty="0"/>
              <a:t> Python</a:t>
            </a:r>
          </a:p>
          <a:p>
            <a:r>
              <a:rPr lang="en-IN" sz="2000" b="1" dirty="0"/>
              <a:t>       Frameworks:</a:t>
            </a:r>
            <a:r>
              <a:rPr lang="en-IN" sz="2000" dirty="0"/>
              <a:t> </a:t>
            </a:r>
            <a:r>
              <a:rPr lang="en-IN" sz="2000" dirty="0" err="1"/>
              <a:t>PyTorch</a:t>
            </a:r>
            <a:r>
              <a:rPr lang="en-IN" sz="2000" dirty="0"/>
              <a:t>, Hugging Face Transformers</a:t>
            </a:r>
          </a:p>
          <a:p>
            <a:r>
              <a:rPr lang="en-IN" sz="2000" b="1" dirty="0"/>
              <a:t>     Core Model:</a:t>
            </a:r>
            <a:r>
              <a:rPr lang="en-IN" sz="2000" dirty="0"/>
              <a:t> </a:t>
            </a:r>
            <a:r>
              <a:rPr lang="en-IN" dirty="0"/>
              <a:t>BLIP (Salesforce/blip-</a:t>
            </a:r>
            <a:r>
              <a:rPr lang="en-IN" dirty="0" err="1"/>
              <a:t>vqa</a:t>
            </a:r>
            <a:r>
              <a:rPr lang="en-IN" dirty="0"/>
              <a:t>-base) – Visual Question Answering</a:t>
            </a:r>
          </a:p>
          <a:p>
            <a:r>
              <a:rPr lang="en-IN" sz="2000" b="1" dirty="0"/>
              <a:t>         Dataset (Future Tuning):</a:t>
            </a:r>
            <a:r>
              <a:rPr lang="en-IN" sz="2000" dirty="0"/>
              <a:t> COCO 2017</a:t>
            </a:r>
          </a:p>
          <a:p>
            <a:r>
              <a:rPr lang="en-IN" sz="2000" b="1" dirty="0"/>
              <a:t>         UI Framework:</a:t>
            </a:r>
            <a:r>
              <a:rPr lang="en-IN" sz="2000" dirty="0"/>
              <a:t> </a:t>
            </a:r>
            <a:r>
              <a:rPr lang="en-IN" sz="2000" dirty="0" err="1"/>
              <a:t>Gradio</a:t>
            </a:r>
            <a:r>
              <a:rPr lang="en-IN" sz="2000" dirty="0"/>
              <a:t> (interactive web interface)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648604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Team Nova</a:t>
            </a:r>
            <a:endParaRPr lang="en-IN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09575" y="-251586"/>
            <a:ext cx="2327105" cy="15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5501FB-2337-8CF0-2945-A957BD20B2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338" y="3184071"/>
            <a:ext cx="4091579" cy="33088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CD89580-0B95-593A-4188-7A0DC18A1A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877" y="3184071"/>
            <a:ext cx="4349074" cy="3308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53E5DF-9D05-364A-F46A-CCBDF6F70B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1917" y="3184070"/>
            <a:ext cx="3820080" cy="3308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0" y="18442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1359451"/>
            <a:ext cx="12191999" cy="513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Feasibility Analysis</a:t>
            </a:r>
          </a:p>
          <a:p>
            <a:r>
              <a:rPr lang="en-IN" sz="2000" b="1" dirty="0"/>
              <a:t>     Technical Feasibility :-</a:t>
            </a:r>
          </a:p>
          <a:p>
            <a:r>
              <a:rPr lang="en-IN" sz="2000" dirty="0"/>
              <a:t>      Working prototype already developed.</a:t>
            </a:r>
          </a:p>
          <a:p>
            <a:r>
              <a:rPr lang="en-IN" sz="2000" dirty="0"/>
              <a:t>      Core technologies </a:t>
            </a:r>
            <a:r>
              <a:rPr lang="en-IN" dirty="0"/>
              <a:t>(</a:t>
            </a:r>
            <a:r>
              <a:rPr lang="en-IN" b="1" dirty="0" err="1"/>
              <a:t>PyTorch</a:t>
            </a:r>
            <a:r>
              <a:rPr lang="en-IN" b="1" dirty="0"/>
              <a:t>, Transformers, </a:t>
            </a:r>
            <a:r>
              <a:rPr lang="en-IN" b="1" dirty="0" err="1"/>
              <a:t>Gradio</a:t>
            </a:r>
            <a:r>
              <a:rPr lang="en-IN" dirty="0"/>
              <a:t>)</a:t>
            </a:r>
            <a:r>
              <a:rPr lang="en-IN" sz="2000" dirty="0"/>
              <a:t> are open-source, mature &amp; well-documented.</a:t>
            </a:r>
          </a:p>
          <a:p>
            <a:r>
              <a:rPr lang="en-IN" sz="2000" b="1" dirty="0"/>
              <a:t>      Resource Feasibility :-</a:t>
            </a:r>
          </a:p>
          <a:p>
            <a:r>
              <a:rPr lang="en-IN" sz="2000" dirty="0"/>
              <a:t>       No costly hardware/software required.</a:t>
            </a:r>
          </a:p>
          <a:p>
            <a:r>
              <a:rPr lang="en-IN" sz="2000" dirty="0"/>
              <a:t>       Development &amp; training possible on free cloud platforms </a:t>
            </a:r>
            <a:r>
              <a:rPr lang="en-IN" dirty="0"/>
              <a:t>(</a:t>
            </a:r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b="1" dirty="0"/>
              <a:t>, Kaggle</a:t>
            </a:r>
            <a:r>
              <a:rPr lang="en-IN" dirty="0"/>
              <a:t>).</a:t>
            </a:r>
          </a:p>
          <a:p>
            <a:r>
              <a:rPr lang="en-IN" sz="2000" b="1" dirty="0"/>
              <a:t>Potential Challenges &amp; Risks :-</a:t>
            </a:r>
          </a:p>
          <a:p>
            <a:r>
              <a:rPr lang="en-IN" sz="2000" b="1" dirty="0"/>
              <a:t>        </a:t>
            </a:r>
            <a:r>
              <a:rPr lang="en-IN" b="1" dirty="0"/>
              <a:t>Model Hallucination</a:t>
            </a:r>
            <a:r>
              <a:rPr lang="en-IN" dirty="0"/>
              <a:t> </a:t>
            </a:r>
            <a:r>
              <a:rPr lang="en-IN" sz="2000" dirty="0"/>
              <a:t>– Wrong/irrelevant answers for abstract or unusual images.</a:t>
            </a:r>
          </a:p>
          <a:p>
            <a:r>
              <a:rPr lang="en-IN" sz="2000" b="1" dirty="0"/>
              <a:t>        </a:t>
            </a:r>
            <a:r>
              <a:rPr lang="en-IN" b="1" dirty="0"/>
              <a:t>Computational Cost</a:t>
            </a:r>
            <a:r>
              <a:rPr lang="en-IN" dirty="0"/>
              <a:t> </a:t>
            </a:r>
            <a:r>
              <a:rPr lang="en-IN" sz="2000" dirty="0"/>
              <a:t>– High resource demand if many users access simultaneously.</a:t>
            </a:r>
          </a:p>
          <a:p>
            <a:r>
              <a:rPr lang="en-IN" sz="2000" b="1" dirty="0"/>
              <a:t>        </a:t>
            </a:r>
            <a:r>
              <a:rPr lang="en-IN" b="1" dirty="0"/>
              <a:t>Domain Specificity</a:t>
            </a:r>
            <a:r>
              <a:rPr lang="en-IN" dirty="0"/>
              <a:t> </a:t>
            </a:r>
            <a:r>
              <a:rPr lang="en-IN" sz="2000" dirty="0"/>
              <a:t>– General model may lack accuracy for niche fields (e.g., medical, satellite).</a:t>
            </a:r>
          </a:p>
          <a:p>
            <a:r>
              <a:rPr lang="en-IN" sz="2000" b="1" dirty="0"/>
              <a:t>Strategies to Overcome :-</a:t>
            </a:r>
          </a:p>
          <a:p>
            <a:r>
              <a:rPr lang="en-IN" sz="2000" b="1" dirty="0"/>
              <a:t>         </a:t>
            </a:r>
            <a:r>
              <a:rPr lang="en-IN" b="1" dirty="0"/>
              <a:t>For Accuracy</a:t>
            </a:r>
            <a:r>
              <a:rPr lang="en-IN" sz="2000" b="1" dirty="0"/>
              <a:t>:</a:t>
            </a:r>
            <a:r>
              <a:rPr lang="en-IN" sz="2000" dirty="0"/>
              <a:t> Fine-tune model on domain-specific datasets.</a:t>
            </a:r>
          </a:p>
          <a:p>
            <a:r>
              <a:rPr lang="en-IN" sz="2000" b="1" dirty="0"/>
              <a:t>         </a:t>
            </a:r>
            <a:r>
              <a:rPr lang="en-IN" b="1" dirty="0"/>
              <a:t>For Scalability</a:t>
            </a:r>
            <a:r>
              <a:rPr lang="en-IN" sz="2000" b="1" dirty="0"/>
              <a:t>:</a:t>
            </a:r>
            <a:r>
              <a:rPr lang="en-IN" sz="2000" dirty="0"/>
              <a:t> Use optimized inference servers (Hugging Face, Docker, cloud deployment).</a:t>
            </a:r>
          </a:p>
          <a:p>
            <a:r>
              <a:rPr lang="en-IN" sz="2000" b="1" dirty="0"/>
              <a:t>         </a:t>
            </a:r>
            <a:r>
              <a:rPr lang="en-IN" b="1" dirty="0"/>
              <a:t>For Cost</a:t>
            </a:r>
            <a:r>
              <a:rPr lang="en-IN" sz="2000" b="1" dirty="0"/>
              <a:t>:</a:t>
            </a:r>
            <a:r>
              <a:rPr lang="en-IN" sz="2000" dirty="0"/>
              <a:t> Apply model optimization (Quantization, ONNX) → faster inference &amp; reduced costs.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Team Nova</a:t>
            </a:r>
            <a:endParaRPr lang="en-IN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72637" y="152400"/>
            <a:ext cx="2327105" cy="15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5181" y="1660457"/>
            <a:ext cx="12136819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/>
              <a:t>Impact and Benefits</a:t>
            </a:r>
          </a:p>
          <a:p>
            <a:r>
              <a:rPr lang="en-US" sz="2000" b="1" dirty="0"/>
              <a:t>Potential Impact on Target Audience:-</a:t>
            </a:r>
          </a:p>
          <a:p>
            <a:r>
              <a:rPr lang="en-US" sz="2000" b="1" dirty="0"/>
              <a:t>     Visually Impaired Users:</a:t>
            </a:r>
            <a:r>
              <a:rPr lang="en-US" sz="2000" dirty="0"/>
              <a:t> Assistive tool that describes the visual world and answers image-based queries.</a:t>
            </a:r>
          </a:p>
          <a:p>
            <a:r>
              <a:rPr lang="en-US" sz="2000" b="1" dirty="0"/>
              <a:t>      E-commerce:</a:t>
            </a:r>
            <a:r>
              <a:rPr lang="en-US" sz="2000" dirty="0"/>
              <a:t> Enables visual product search (e.g., </a:t>
            </a:r>
            <a:r>
              <a:rPr lang="en-US" sz="2000" i="1" dirty="0"/>
              <a:t>“Is this available in blue?”</a:t>
            </a:r>
            <a:r>
              <a:rPr lang="en-US" sz="2000" dirty="0"/>
              <a:t>).</a:t>
            </a:r>
          </a:p>
          <a:p>
            <a:r>
              <a:rPr lang="en-US" sz="2000" b="1" dirty="0"/>
              <a:t>      Education:</a:t>
            </a:r>
            <a:r>
              <a:rPr lang="en-US" sz="2000" dirty="0"/>
              <a:t> Interactive learning with historical images, scientific diagrams, and artworks.</a:t>
            </a:r>
          </a:p>
          <a:p>
            <a:r>
              <a:rPr lang="en-US" sz="2000" b="1" dirty="0"/>
              <a:t>      Social Media:</a:t>
            </a:r>
            <a:r>
              <a:rPr lang="en-US" sz="2000" dirty="0"/>
              <a:t> Automates content moderation by analyzing images for violations.</a:t>
            </a:r>
          </a:p>
          <a:p>
            <a:endParaRPr lang="en-US" sz="2000" dirty="0"/>
          </a:p>
          <a:p>
            <a:r>
              <a:rPr lang="en-US" sz="2000" b="1" dirty="0"/>
              <a:t>Benefits of the Solution:-</a:t>
            </a:r>
          </a:p>
          <a:p>
            <a:r>
              <a:rPr lang="en-US" sz="2000" b="1" dirty="0"/>
              <a:t>      Social Benefit:</a:t>
            </a:r>
            <a:r>
              <a:rPr lang="en-US" sz="2000" dirty="0"/>
              <a:t> Enhances digital accessibility for visually impaired communities.</a:t>
            </a:r>
          </a:p>
          <a:p>
            <a:r>
              <a:rPr lang="en-US" sz="2000" b="1" dirty="0"/>
              <a:t>      Economic Benefit:</a:t>
            </a:r>
            <a:r>
              <a:rPr lang="en-US" sz="2000" dirty="0"/>
              <a:t> Reduces customer support costs &amp; increases user engagement in online retail.</a:t>
            </a:r>
          </a:p>
          <a:p>
            <a:r>
              <a:rPr lang="en-US" sz="2000" b="1" dirty="0"/>
              <a:t>      Educational Benefit:</a:t>
            </a:r>
            <a:r>
              <a:rPr lang="en-US" sz="2000" dirty="0"/>
              <a:t> Provides an engaging, interactive way of learning with visuals</a:t>
            </a:r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Team Nova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672637" y="152400"/>
            <a:ext cx="2327105" cy="15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-55180" y="1820263"/>
            <a:ext cx="121920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000" b="1" dirty="0"/>
              <a:t>Core Model Paper</a:t>
            </a:r>
            <a:endParaRPr lang="en-IN" sz="2000" dirty="0"/>
          </a:p>
          <a:p>
            <a:r>
              <a:rPr lang="en-IN" sz="2000" dirty="0"/>
              <a:t>        Li, J., Li, D., Xiong, C., &amp; Hoi, S. (2022).</a:t>
            </a:r>
          </a:p>
          <a:p>
            <a:r>
              <a:rPr lang="en-IN" sz="2000" i="1" dirty="0"/>
              <a:t>        BLIP: Bootstrapping Language-Image Pre-training for Unified Vision-Language Understanding and Generation.</a:t>
            </a:r>
            <a:endParaRPr lang="en-IN" sz="2000" dirty="0"/>
          </a:p>
          <a:p>
            <a:r>
              <a:rPr lang="en-IN" sz="2000" dirty="0"/>
              <a:t>        arXiv:2201.12086</a:t>
            </a:r>
            <a:br>
              <a:rPr lang="en-IN" sz="2800" dirty="0"/>
            </a:br>
            <a:r>
              <a:rPr lang="en-IN" sz="2000" b="1" dirty="0"/>
              <a:t>Core Technology Documentation:-</a:t>
            </a:r>
            <a:endParaRPr lang="en-IN" sz="2000" dirty="0"/>
          </a:p>
          <a:p>
            <a:r>
              <a:rPr lang="en-IN" sz="2000" dirty="0"/>
              <a:t>         Hugging Face Transformers → </a:t>
            </a:r>
            <a:r>
              <a:rPr lang="en-IN" sz="2000" dirty="0">
                <a:hlinkClick r:id="rId3"/>
              </a:rPr>
              <a:t>https://huggingface.co/docs/transformers</a:t>
            </a:r>
            <a:endParaRPr lang="en-IN" sz="2000" dirty="0"/>
          </a:p>
          <a:p>
            <a:r>
              <a:rPr lang="en-IN" sz="2000" dirty="0"/>
              <a:t>          </a:t>
            </a:r>
            <a:r>
              <a:rPr lang="en-IN" sz="2000" dirty="0" err="1"/>
              <a:t>Gradio</a:t>
            </a:r>
            <a:r>
              <a:rPr lang="en-IN" sz="2000" dirty="0"/>
              <a:t> UI Library → </a:t>
            </a:r>
            <a:r>
              <a:rPr lang="en-IN" sz="2000" dirty="0">
                <a:hlinkClick r:id="rId4"/>
              </a:rPr>
              <a:t>https://www.gradio.app/</a:t>
            </a:r>
            <a:endParaRPr lang="en-IN" sz="2000" dirty="0"/>
          </a:p>
          <a:p>
            <a:r>
              <a:rPr lang="en-IN" sz="2000" dirty="0"/>
              <a:t>          </a:t>
            </a:r>
            <a:r>
              <a:rPr lang="en-IN" sz="2000" dirty="0" err="1"/>
              <a:t>PyTorch</a:t>
            </a:r>
            <a:r>
              <a:rPr lang="en-IN" sz="2000" dirty="0"/>
              <a:t> → </a:t>
            </a:r>
            <a:r>
              <a:rPr lang="en-IN" sz="2000" dirty="0">
                <a:hlinkClick r:id="rId5"/>
              </a:rPr>
              <a:t>https://pytorch.org/</a:t>
            </a:r>
            <a:endParaRPr lang="en-IN" sz="2000" dirty="0"/>
          </a:p>
          <a:p>
            <a:r>
              <a:rPr lang="en-US" sz="2000" b="1" dirty="0"/>
              <a:t>Dataset:-</a:t>
            </a:r>
            <a:endParaRPr lang="en-US" sz="2000" dirty="0"/>
          </a:p>
          <a:p>
            <a:r>
              <a:rPr lang="en-US" sz="2000" b="1" dirty="0"/>
              <a:t>          -COCO – Common Objects in Context</a:t>
            </a:r>
            <a:r>
              <a:rPr lang="en-US" sz="2000" dirty="0"/>
              <a:t> → </a:t>
            </a:r>
            <a:r>
              <a:rPr lang="en-US" sz="2000" dirty="0">
                <a:hlinkClick r:id="rId6"/>
              </a:rPr>
              <a:t>https://cocodataset.org/</a:t>
            </a:r>
            <a:endParaRPr lang="en-US" sz="2000" dirty="0"/>
          </a:p>
          <a:p>
            <a:endParaRPr lang="en-IN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Team Nova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672637" y="152400"/>
            <a:ext cx="2327105" cy="1591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693</Words>
  <Application>Microsoft Office PowerPoint</Application>
  <PresentationFormat>Widescreen</PresentationFormat>
  <Paragraphs>97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 INTERNAL SMART INDIA HACKATHON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krishna kumar</cp:lastModifiedBy>
  <cp:revision>1</cp:revision>
  <dcterms:created xsi:type="dcterms:W3CDTF">2013-12-12T18:46:50Z</dcterms:created>
  <dcterms:modified xsi:type="dcterms:W3CDTF">2025-09-12T19:56:37Z</dcterms:modified>
</cp:coreProperties>
</file>